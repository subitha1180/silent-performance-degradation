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77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4" r:id="rId17"/>
    <p:sldId id="275" r:id="rId18"/>
    <p:sldId id="276" r:id="rId19"/>
    <p:sldId id="271" r:id="rId20"/>
    <p:sldId id="272" r:id="rId21"/>
  </p:sldIdLst>
  <p:sldSz cx="12192000" cy="6858000"/>
  <p:notesSz cx="6858000" cy="9144000"/>
  <p:embeddedFontLst>
    <p:embeddedFont>
      <p:font typeface="Arial Narrow" panose="020B060602020203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gf10L9/O25FquuOPl/RY1EpRj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DD818E-ADFA-4579-856F-A3140DA02BD1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FC7DFEF-3B2E-D017-0B21-BC210BF4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1B5CA6E9-7386-2799-6840-751B808D7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EA42349E-92BC-7FC0-2C31-D4076D738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98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C1E655B-A341-3619-F687-C18AD4E0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42A01C9D-D513-EC7A-DB57-5A2A12615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20F5E407-20E3-63F2-7964-49A89E8D0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885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97BEFE-763C-102C-077B-889349FBD5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pic>
        <p:nvPicPr>
          <p:cNvPr id="3" name="Google Shape;91;p13">
            <a:extLst>
              <a:ext uri="{FF2B5EF4-FFF2-40B4-BE49-F238E27FC236}">
                <a16:creationId xmlns:a16="http://schemas.microsoft.com/office/drawing/2014/main" id="{A97688F6-F253-3761-DE5E-E0BB419B6DB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5348811" cy="1873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0;p13">
            <a:extLst>
              <a:ext uri="{FF2B5EF4-FFF2-40B4-BE49-F238E27FC236}">
                <a16:creationId xmlns:a16="http://schemas.microsoft.com/office/drawing/2014/main" id="{C5D5BA3A-8850-588D-CABD-45C2A910AF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6357" r="14907" b="8148"/>
          <a:stretch/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1A8A8D-0564-68F0-C824-5F69601DB7A3}"/>
              </a:ext>
            </a:extLst>
          </p:cNvPr>
          <p:cNvSpPr txBox="1"/>
          <p:nvPr/>
        </p:nvSpPr>
        <p:spPr>
          <a:xfrm>
            <a:off x="16043" y="2525843"/>
            <a:ext cx="12191999" cy="3600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lang="en-US" sz="36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2800" b="1" dirty="0">
                <a:latin typeface="Arial Narrow"/>
                <a:ea typeface="Arial Narrow"/>
                <a:cs typeface="Arial Narrow"/>
                <a:sym typeface="Arial Narrow"/>
              </a:rPr>
              <a:t>20CS8504 &amp; PROJECT WORK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2800" b="1" dirty="0">
                <a:latin typeface="Arial Narrow"/>
                <a:ea typeface="Arial Narrow"/>
                <a:cs typeface="Arial Narrow"/>
                <a:sym typeface="Arial Narrow"/>
              </a:rPr>
              <a:t>END SEMESTER PRACTICAL EXAMINATION- APRIL / MAY - 2026</a:t>
            </a:r>
            <a:endParaRPr lang="en-US" sz="28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No: 10</a:t>
            </a:r>
            <a:endParaRPr lang="en-US" sz="24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Date: 30.03.26</a:t>
            </a:r>
            <a:endParaRPr lang="en-US" sz="2400"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Session: AN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06239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4294967295"/>
          </p:nvPr>
        </p:nvSpPr>
        <p:spPr>
          <a:xfrm>
            <a:off x="963561" y="538162"/>
            <a:ext cx="10539413" cy="176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20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AI-Based Silent Performance Degradation Detection in Computer Systems Using Multivariate Time-Series Analysis</a:t>
            </a: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4294967295"/>
          </p:nvPr>
        </p:nvSpPr>
        <p:spPr>
          <a:xfrm>
            <a:off x="275304" y="3609258"/>
            <a:ext cx="4613275" cy="272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Guide Name: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 err="1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Ms</a:t>
            </a: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SHAHINA SHALU S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4294967295"/>
          </p:nvPr>
        </p:nvSpPr>
        <p:spPr>
          <a:xfrm>
            <a:off x="6784975" y="3594100"/>
            <a:ext cx="5407025" cy="272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Team Members: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SUBITHA G (811722104159)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SWETHALASHMI G (811722104167)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VARSHAA S R (811722104175)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581526" y="1279806"/>
            <a:ext cx="10772274" cy="370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just"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To detect early performance degradation in computer systems using time series analysis.</a:t>
            </a:r>
          </a:p>
          <a:p>
            <a:pPr marL="514350" lvl="0" indent="-514350" algn="just">
              <a:buClrTx/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To </a:t>
            </a:r>
            <a:r>
              <a:rPr lang="en-US" dirty="0" err="1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analyse</a:t>
            </a: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 multivariate system metrics and identify gradual performance drift without explicit failure alerts. </a:t>
            </a:r>
          </a:p>
          <a:p>
            <a:pPr marL="514350" lvl="0" indent="-514350" algn="just">
              <a:buClrTx/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To provide explainable degradation detection by identifying root causes using interpretable ML techniques.</a:t>
            </a:r>
          </a:p>
          <a:p>
            <a:pPr marL="514350" lvl="0" indent="-514350" algn="just">
              <a:buClrTx/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To generate intelligent and reliable alerts while reducing false positives.</a:t>
            </a:r>
          </a:p>
          <a:p>
            <a:pPr marL="514350" lvl="0" indent="-514350" algn="just">
              <a:buClrTx/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To support proactive maintenance for improved system reliability, uptime, and operational efficiency</a:t>
            </a: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764005" y="1407506"/>
            <a:ext cx="106639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just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Modern computer systems rely on continuous monitoring, yet silent performance degradation often progresses unnoticed without explicit failure alarms.</a:t>
            </a:r>
          </a:p>
          <a:p>
            <a:pPr marL="514350" lvl="0" indent="-514350" algn="just">
              <a:buSzPts val="2800"/>
              <a:buFont typeface="+mj-lt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To develop an unsupervised multivariate time-series framework that detects early silent degradation using explainable machine learning techniques proactively</a:t>
            </a:r>
          </a:p>
          <a:p>
            <a:pPr marL="514350" indent="-514350" algn="just"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A proactive monitoring system that identifies root causes, recommends actions, reduces downtime, and improves operational reliability overall.</a:t>
            </a: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4168387207"/>
              </p:ext>
            </p:extLst>
          </p:nvPr>
        </p:nvGraphicFramePr>
        <p:xfrm>
          <a:off x="68845" y="708000"/>
          <a:ext cx="12054301" cy="5864273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3973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0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0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9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1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5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Predictive Maintenance Edge AI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Application Study Using Recurrent Neural Networks for Early Aging Detection in Peristaltic Pumps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Juan M. Montes-Sánchez , Graduate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Student Member, IEEE,2025</a:t>
                      </a:r>
                      <a:endParaRPr lang="en-US"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IEEE Journal of Power and Energy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Systems</a:t>
                      </a:r>
                      <a:endParaRPr lang="en-US"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Edge AI , Peristaltic pumps, gated recurrent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neural networks</a:t>
                      </a:r>
                      <a:endParaRPr lang="en-US"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4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Predictive Analysis of System Performance Degradation Using Machine Learning Techniques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 Narrow" panose="020B0606020202030204" pitchFamily="34" charset="0"/>
                        </a:rPr>
                        <a:t>Ravi Kumar, Ananya Sharma, Pradeep Nair, 2024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 Narrow" panose="020B0606020202030204" pitchFamily="34" charset="0"/>
                        </a:rPr>
                        <a:t>IEEE Access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ML –based predictive analytics; Time-series analysis; CPU, memory, disk, and system log monitoring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2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A Centralized Monitoring Framework for Predicting System Failures in Large-Scale IT Environments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Daniel Brown, Karthik Ramesh, Sunita Patel, 2024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 Narrow" panose="020B0606020202030204" pitchFamily="34" charset="0"/>
                        </a:rPr>
                        <a:t>IEEE Systems Journal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Centralized monitoring architecture; Predictive failure analysis; ML models using CPU, RAM, disk, network metrics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7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Reinforcement Learning-Driven Adaptive Prefetch Aggressiveness Control for Enhanced Performance in Parallel System Architectures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Arial Narrow" panose="020B0606020202030204" pitchFamily="34" charset="0"/>
                        </a:rPr>
                        <a:t>Huijing</a:t>
                      </a:r>
                      <a:r>
                        <a:rPr lang="en-US" sz="1200" dirty="0">
                          <a:latin typeface="Arial Narrow" panose="020B0606020202030204" pitchFamily="34" charset="0"/>
                        </a:rPr>
                        <a:t> Yang, Juan Fang, Neal N. Xiong, Yumin Hou, Xing Su, 2025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IEEE Transactions on Parallel and Distributed Systems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Reinforcement Learning (RL)-based adaptive prefetch control for multi-core systems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79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Deep Learning-Based Log Analysis for Failure Detection in Distributed Systems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Min Du, </a:t>
                      </a:r>
                      <a:r>
                        <a:rPr lang="en-US" sz="1200" dirty="0" err="1">
                          <a:latin typeface="Arial Narrow" panose="020B0606020202030204" pitchFamily="34" charset="0"/>
                        </a:rPr>
                        <a:t>Feifei</a:t>
                      </a:r>
                      <a:r>
                        <a:rPr lang="en-US" sz="1200" dirty="0">
                          <a:latin typeface="Arial Narrow" panose="020B0606020202030204" pitchFamily="34" charset="0"/>
                        </a:rPr>
                        <a:t> Li,2024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IEEE Deep Learnings techniques and system logs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Deep Learning, Log Analysis, Distributed System Monitoring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306672430"/>
                  </a:ext>
                </a:extLst>
              </a:tr>
              <a:tr h="8879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Disk Failure Prediction in Data Centers Using Machine Learning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a-DK" sz="1200" dirty="0">
                          <a:latin typeface="Arial Narrow" panose="020B0606020202030204" pitchFamily="34" charset="0"/>
                        </a:rPr>
                        <a:t>Q. Guan,2025 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IEEE Disk failures and health monitoring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Machine Learning, Disk Health Monitoring, Data Center Reliability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4275714664"/>
                  </a:ext>
                </a:extLst>
              </a:tr>
              <a:tr h="8879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Edge Computing for Internet of Things: A Survey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latin typeface="Arial Narrow" panose="020B0606020202030204" pitchFamily="34" charset="0"/>
                        </a:rPr>
                        <a:t>Weisong</a:t>
                      </a:r>
                      <a:r>
                        <a:rPr lang="en-US" sz="1200" dirty="0">
                          <a:latin typeface="Arial Narrow" panose="020B0606020202030204" pitchFamily="34" charset="0"/>
                        </a:rPr>
                        <a:t> Shi , 2024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IEEE Edge Computing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Edge Computing, IoT Architecture, Distributed Systems.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169129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EXISTING SYSTEM </a:t>
            </a:r>
            <a:r>
              <a:rPr lang="en-US" dirty="0"/>
              <a:t>ARCHITECTURE</a:t>
            </a:r>
            <a:endParaRPr dirty="0"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C6452D-BAC3-1725-A421-35018A17E8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635" b="19365"/>
          <a:stretch>
            <a:fillRect/>
          </a:stretch>
        </p:blipFill>
        <p:spPr>
          <a:xfrm>
            <a:off x="952500" y="1415142"/>
            <a:ext cx="10287000" cy="41148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7FEFE7C5-B014-B248-A280-1360BE6D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8DDF3340-775D-1206-5F9C-2A604B9E05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>
            <a:extLst>
              <a:ext uri="{FF2B5EF4-FFF2-40B4-BE49-F238E27FC236}">
                <a16:creationId xmlns:a16="http://schemas.microsoft.com/office/drawing/2014/main" id="{1F26A455-1F7F-0E24-548B-1E2404FC73D5}"/>
              </a:ext>
            </a:extLst>
          </p:cNvPr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PROBLEM IDENTIFICAITON</a:t>
            </a:r>
            <a:endParaRPr dirty="0">
              <a:sym typeface="Arial Narro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BDA42-5836-D2E3-1290-9E9478C88B40}"/>
              </a:ext>
            </a:extLst>
          </p:cNvPr>
          <p:cNvSpPr txBox="1"/>
          <p:nvPr/>
        </p:nvSpPr>
        <p:spPr>
          <a:xfrm>
            <a:off x="924584" y="1166842"/>
            <a:ext cx="1042921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 Narrow" panose="020B0606020202030204" pitchFamily="34" charset="0"/>
              </a:rPr>
              <a:t>1.</a:t>
            </a:r>
            <a:r>
              <a:rPr lang="en-US" sz="2400" dirty="0">
                <a:latin typeface="Arial Narrow" panose="020B0606020202030204" pitchFamily="34" charset="0"/>
              </a:rPr>
              <a:t> Modern computer systems use monitoring methods such as threshold-based monitoring, log analysis, performance monitoring tools, and rule-based alert systems to track system performance.</a:t>
            </a:r>
          </a:p>
          <a:p>
            <a:r>
              <a:rPr lang="en-US" sz="2400" b="1" dirty="0">
                <a:latin typeface="Arial Narrow" panose="020B0606020202030204" pitchFamily="34" charset="0"/>
              </a:rPr>
              <a:t>2.</a:t>
            </a:r>
            <a:r>
              <a:rPr lang="en-US" sz="2400" dirty="0">
                <a:latin typeface="Arial Narrow" panose="020B0606020202030204" pitchFamily="34" charset="0"/>
              </a:rPr>
              <a:t>In threshold-based monitoring, alerts are generated when system metrics like CPU usage, memory utilization, disk activity, or network traffic exceed predefined limits.</a:t>
            </a:r>
          </a:p>
          <a:p>
            <a:r>
              <a:rPr lang="en-US" sz="2400" b="1" dirty="0">
                <a:latin typeface="Arial Narrow" panose="020B0606020202030204" pitchFamily="34" charset="0"/>
              </a:rPr>
              <a:t>3.</a:t>
            </a:r>
            <a:r>
              <a:rPr lang="en-US" sz="2400" dirty="0">
                <a:latin typeface="Arial Narrow" panose="020B0606020202030204" pitchFamily="34" charset="0"/>
              </a:rPr>
              <a:t>Log analysis and monitoring tools help administrators observe system behavior through logs, dashboards, and performance reports.</a:t>
            </a:r>
          </a:p>
          <a:p>
            <a:r>
              <a:rPr lang="en-US" sz="2400" b="1" dirty="0">
                <a:latin typeface="Arial Narrow" panose="020B0606020202030204" pitchFamily="34" charset="0"/>
              </a:rPr>
              <a:t>4.</a:t>
            </a:r>
            <a:r>
              <a:rPr lang="en-US" sz="2400" dirty="0">
                <a:latin typeface="Arial Narrow" panose="020B0606020202030204" pitchFamily="34" charset="0"/>
              </a:rPr>
              <a:t>However, these traditional monitoring methods are mostly reactive and often fail to detect gradual or hidden performance degradation.</a:t>
            </a:r>
          </a:p>
          <a:p>
            <a:r>
              <a:rPr lang="en-US" sz="2400" b="1" dirty="0">
                <a:latin typeface="Arial Narrow" panose="020B0606020202030204" pitchFamily="34" charset="0"/>
              </a:rPr>
              <a:t>5.</a:t>
            </a:r>
            <a:r>
              <a:rPr lang="en-US" sz="2400" dirty="0">
                <a:latin typeface="Arial Narrow" panose="020B0606020202030204" pitchFamily="34" charset="0"/>
              </a:rPr>
              <a:t>Therefore, an advanced monitoring approach is needed to automatically analyze system trends, detect early degradation, and provide intelligent insights for improving system reliability and efficiency.</a:t>
            </a:r>
          </a:p>
        </p:txBody>
      </p:sp>
    </p:spTree>
    <p:extLst>
      <p:ext uri="{BB962C8B-B14F-4D97-AF65-F5344CB8AC3E}">
        <p14:creationId xmlns:p14="http://schemas.microsoft.com/office/powerpoint/2010/main" val="301486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</a:t>
            </a: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SYSTEM </a:t>
            </a:r>
            <a:r>
              <a:rPr lang="en-US" sz="4000" b="1" dirty="0">
                <a:solidFill>
                  <a:schemeClr val="dk1"/>
                </a:solidFill>
                <a:latin typeface="Arial Narrow"/>
              </a:rPr>
              <a:t>ARCHITECTURE</a:t>
            </a:r>
            <a:endParaRPr sz="4000" b="1" dirty="0">
              <a:solidFill>
                <a:schemeClr val="dk1"/>
              </a:solidFill>
              <a:latin typeface="Arial Narrow"/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951F0D-C4B2-6695-3CC6-E6A6D99811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539" b="16440"/>
          <a:stretch>
            <a:fillRect/>
          </a:stretch>
        </p:blipFill>
        <p:spPr>
          <a:xfrm>
            <a:off x="1494063" y="1322589"/>
            <a:ext cx="9203871" cy="44191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265938" y="2671762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HARDWARE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 Processor: Minimum Intel i5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2. RAM: 16 GB 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3. Storage: 512 GB SSD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6938031" y="2539370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 Operating System: Windows 11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2. Development Platform: Python 3.9 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3. Frameworks: Flask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4. Database: MySQL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1.System Degradation Analyzer </a:t>
            </a:r>
            <a:endParaRPr lang="en-IN" dirty="0">
              <a:latin typeface="Arial Narrow" panose="020B0606020202030204" pitchFamily="34" charset="0"/>
            </a:endParaRPr>
          </a:p>
          <a:p>
            <a:pPr marL="114300" lv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2.System User </a:t>
            </a:r>
            <a:endParaRPr lang="en-IN" dirty="0">
              <a:latin typeface="Arial Narrow" panose="020B0606020202030204" pitchFamily="34" charset="0"/>
            </a:endParaRPr>
          </a:p>
          <a:p>
            <a:pPr marL="114300" lv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3.Server Management </a:t>
            </a:r>
            <a:endParaRPr lang="en-IN" dirty="0">
              <a:latin typeface="Arial Narrow" panose="020B0606020202030204" pitchFamily="34" charset="0"/>
            </a:endParaRPr>
          </a:p>
          <a:p>
            <a:pPr marL="114300" lv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4.Model Development </a:t>
            </a:r>
            <a:endParaRPr lang="en-IN" dirty="0">
              <a:latin typeface="Arial Narrow" panose="020B0606020202030204" pitchFamily="34" charset="0"/>
            </a:endParaRPr>
          </a:p>
          <a:p>
            <a:pPr marL="114300" lv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5.Monitoring Agent </a:t>
            </a:r>
            <a:endParaRPr lang="en-IN" dirty="0">
              <a:latin typeface="Arial Narrow" panose="020B0606020202030204" pitchFamily="34" charset="0"/>
            </a:endParaRPr>
          </a:p>
          <a:p>
            <a:pPr marL="114300" lv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6. Anomaly Detection </a:t>
            </a:r>
            <a:endParaRPr lang="en-IN" dirty="0">
              <a:latin typeface="Arial Narrow" panose="020B0606020202030204" pitchFamily="34" charset="0"/>
            </a:endParaRPr>
          </a:p>
          <a:p>
            <a:pPr marL="114300" lv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7.Recommendation Engine</a:t>
            </a:r>
            <a:endParaRPr lang="en-IN" dirty="0">
              <a:latin typeface="Arial Narrow" panose="020B0606020202030204" pitchFamily="34" charset="0"/>
            </a:endParaRPr>
          </a:p>
          <a:p>
            <a:pPr marL="114300" lv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8.Alerts and Notification</a:t>
            </a:r>
            <a:endParaRPr lang="en-IN" dirty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15619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MODULE-1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419100" y="1195665"/>
            <a:ext cx="11353800" cy="5054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2600" b="1" dirty="0">
                <a:latin typeface="Arial Narrow" panose="020B0606020202030204" pitchFamily="34" charset="0"/>
              </a:rPr>
              <a:t>System Degradation Analyzer </a:t>
            </a:r>
          </a:p>
          <a:p>
            <a:pPr marL="114300" indent="0">
              <a:buNone/>
            </a:pPr>
            <a:endParaRPr lang="en-US" sz="2400" b="1" dirty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1. </a:t>
            </a:r>
            <a:r>
              <a:rPr lang="en-US" sz="2400" dirty="0">
                <a:latin typeface="Arial Narrow" panose="020B0606020202030204" pitchFamily="34" charset="0"/>
              </a:rPr>
              <a:t>The System Degradation Analyzer acts as the central web-based platform that manages system monitoring and performance analysis.</a:t>
            </a:r>
          </a:p>
          <a:p>
            <a:pPr marL="114300" indent="0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en-US" sz="2400" b="1" dirty="0">
                <a:latin typeface="Arial Narrow" panose="020B0606020202030204" pitchFamily="34" charset="0"/>
              </a:rPr>
              <a:t>2. </a:t>
            </a:r>
            <a:r>
              <a:rPr lang="en-US" sz="2400" dirty="0">
                <a:latin typeface="Arial Narrow" panose="020B0606020202030204" pitchFamily="34" charset="0"/>
              </a:rPr>
              <a:t>It is developed using Python and Flask, with MySQL used for database management and Bootstrap for designing the user interface.</a:t>
            </a:r>
          </a:p>
          <a:p>
            <a:pPr marL="114300" indent="0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en-US" sz="2400" b="1" dirty="0">
                <a:latin typeface="Arial Narrow" panose="020B0606020202030204" pitchFamily="34" charset="0"/>
              </a:rPr>
              <a:t>3.</a:t>
            </a:r>
            <a:r>
              <a:rPr lang="en-US" sz="2400" dirty="0">
                <a:latin typeface="Arial Narrow" panose="020B0606020202030204" pitchFamily="34" charset="0"/>
              </a:rPr>
              <a:t> The module integrates key functionalities such as user management, system registration, monitoring data processing, and alert generation.</a:t>
            </a:r>
          </a:p>
          <a:p>
            <a:pPr marL="114300" indent="0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en-US" sz="2400" b="1" dirty="0">
                <a:latin typeface="Arial Narrow" panose="020B0606020202030204" pitchFamily="34" charset="0"/>
              </a:rPr>
              <a:t>4. </a:t>
            </a:r>
            <a:r>
              <a:rPr lang="en-US" sz="2400" dirty="0">
                <a:latin typeface="Arial Narrow" panose="020B0606020202030204" pitchFamily="34" charset="0"/>
              </a:rPr>
              <a:t>It provides a dashboard interface where users can view system performance metrics, anomaly detection results, and alerts.</a:t>
            </a:r>
          </a:p>
          <a:p>
            <a:pPr marL="114300" indent="0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en-US" sz="2400" b="1" dirty="0">
                <a:latin typeface="Arial Narrow" panose="020B0606020202030204" pitchFamily="34" charset="0"/>
              </a:rPr>
              <a:t>5. </a:t>
            </a:r>
            <a:r>
              <a:rPr lang="en-US" sz="2400" dirty="0">
                <a:latin typeface="Arial Narrow" panose="020B0606020202030204" pitchFamily="34" charset="0"/>
              </a:rPr>
              <a:t>Libraries like NumPy, Pandas, </a:t>
            </a:r>
            <a:r>
              <a:rPr lang="en-US" sz="2400" dirty="0" err="1">
                <a:latin typeface="Arial Narrow" panose="020B0606020202030204" pitchFamily="34" charset="0"/>
              </a:rPr>
              <a:t>PyTorch</a:t>
            </a:r>
            <a:r>
              <a:rPr lang="en-US" sz="2400" dirty="0">
                <a:latin typeface="Arial Narrow" panose="020B0606020202030204" pitchFamily="34" charset="0"/>
              </a:rPr>
              <a:t>, and SHAP are used for data processing, machine learning analysis, and performance interpretation.</a:t>
            </a: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09656BB-8B2E-3E36-21FC-816E8E0F30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339886" y="843190"/>
            <a:ext cx="6589234" cy="551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114300" lvl="0" indent="0">
              <a:buNone/>
            </a:pPr>
            <a:r>
              <a:rPr lang="en-US" sz="2600" b="1" dirty="0">
                <a:latin typeface="Arial Narrow" panose="020B0606020202030204" pitchFamily="34" charset="0"/>
              </a:rPr>
              <a:t>System User </a:t>
            </a:r>
            <a:endParaRPr lang="en-IN" sz="2600" b="1" dirty="0">
              <a:latin typeface="Arial Narrow" panose="020B0606020202030204" pitchFamily="34" charset="0"/>
            </a:endParaRPr>
          </a:p>
          <a:p>
            <a:pPr mar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sz="2400" b="1" dirty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1.</a:t>
            </a:r>
            <a:r>
              <a:rPr lang="en-US" sz="2400" dirty="0">
                <a:latin typeface="Arial Narrow" panose="020B0606020202030204" pitchFamily="34" charset="0"/>
              </a:rPr>
              <a:t> This module manages users who interact with the system and controls their access, authentication, and authorization.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2. </a:t>
            </a:r>
            <a:r>
              <a:rPr lang="en-US" sz="2400" dirty="0">
                <a:latin typeface="Arial Narrow" panose="020B0606020202030204" pitchFamily="34" charset="0"/>
              </a:rPr>
              <a:t>It includes two main roles: </a:t>
            </a:r>
            <a:r>
              <a:rPr lang="en-US" sz="2400" b="1" dirty="0">
                <a:latin typeface="Arial Narrow" panose="020B0606020202030204" pitchFamily="34" charset="0"/>
              </a:rPr>
              <a:t>System Administrator</a:t>
            </a:r>
            <a:r>
              <a:rPr lang="en-US" sz="2400" dirty="0">
                <a:latin typeface="Arial Narrow" panose="020B0606020202030204" pitchFamily="34" charset="0"/>
              </a:rPr>
              <a:t> and </a:t>
            </a:r>
            <a:r>
              <a:rPr lang="en-US" sz="2400" b="1" dirty="0">
                <a:latin typeface="Arial Narrow" panose="020B0606020202030204" pitchFamily="34" charset="0"/>
              </a:rPr>
              <a:t>User/Server Administrator</a:t>
            </a:r>
            <a:r>
              <a:rPr lang="en-US" sz="2400" dirty="0">
                <a:latin typeface="Arial Narrow" panose="020B0606020202030204" pitchFamily="34" charset="0"/>
              </a:rPr>
              <a:t>, each with different responsibilities.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3. </a:t>
            </a:r>
            <a:r>
              <a:rPr lang="en-US" sz="2400" dirty="0">
                <a:latin typeface="Arial Narrow" panose="020B0606020202030204" pitchFamily="34" charset="0"/>
              </a:rPr>
              <a:t>The </a:t>
            </a:r>
            <a:r>
              <a:rPr lang="en-US" sz="2400" b="1" dirty="0">
                <a:latin typeface="Arial Narrow" panose="020B0606020202030204" pitchFamily="34" charset="0"/>
              </a:rPr>
              <a:t>System Administrator</a:t>
            </a:r>
            <a:r>
              <a:rPr lang="en-US" sz="2400" dirty="0">
                <a:latin typeface="Arial Narrow" panose="020B0606020202030204" pitchFamily="34" charset="0"/>
              </a:rPr>
              <a:t> manages the platform, uploads datasets, supervises users, and monitors system performance and anomaly detection results.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4. </a:t>
            </a:r>
            <a:r>
              <a:rPr lang="en-US" sz="2400" dirty="0">
                <a:latin typeface="Arial Narrow" panose="020B0606020202030204" pitchFamily="34" charset="0"/>
              </a:rPr>
              <a:t>The </a:t>
            </a:r>
            <a:r>
              <a:rPr lang="en-US" sz="2400" b="1" dirty="0">
                <a:latin typeface="Arial Narrow" panose="020B0606020202030204" pitchFamily="34" charset="0"/>
              </a:rPr>
              <a:t>User/Server Administrator</a:t>
            </a:r>
            <a:r>
              <a:rPr lang="en-US" sz="2400" dirty="0">
                <a:latin typeface="Arial Narrow" panose="020B0606020202030204" pitchFamily="34" charset="0"/>
              </a:rPr>
              <a:t> registers and logs into the system to monitor their servers or computer systems.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5.</a:t>
            </a:r>
            <a:r>
              <a:rPr lang="en-US" sz="2400" dirty="0">
                <a:latin typeface="Arial Narrow" panose="020B0606020202030204" pitchFamily="34" charset="0"/>
              </a:rPr>
              <a:t>Users can view system metrics, alerts, anomaly detection results, and recommendations through the dashboard to maintain system health.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400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80E6E-718C-F502-CEC4-4F05AC5D5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120" y="975361"/>
            <a:ext cx="5069840" cy="2346959"/>
          </a:xfrm>
          <a:prstGeom prst="rect">
            <a:avLst/>
          </a:prstGeom>
        </p:spPr>
      </p:pic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MODULE-2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AE36D7-1A08-4FB8-6F64-72223F580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120" y="3669983"/>
            <a:ext cx="5161280" cy="26914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body" idx="1"/>
          </p:nvPr>
        </p:nvSpPr>
        <p:spPr>
          <a:xfrm>
            <a:off x="419100" y="660400"/>
            <a:ext cx="6560820" cy="5963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2600" b="1" dirty="0">
                <a:latin typeface="Arial Narrow" panose="020B0606020202030204" pitchFamily="34" charset="0"/>
              </a:rPr>
              <a:t>Server Management</a:t>
            </a:r>
            <a:br>
              <a:rPr lang="en-US" sz="2400" b="1" dirty="0">
                <a:latin typeface="Arial Narrow" panose="020B0606020202030204" pitchFamily="34" charset="0"/>
              </a:rPr>
            </a:br>
            <a:endParaRPr lang="en-US" sz="2400" b="1" dirty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1.</a:t>
            </a:r>
            <a:r>
              <a:rPr lang="en-US" sz="2400" dirty="0">
                <a:latin typeface="Arial Narrow" panose="020B0606020202030204" pitchFamily="34" charset="0"/>
              </a:rPr>
              <a:t> This module manages the registration and configuration of computers or servers that need to be monitored.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2.</a:t>
            </a:r>
            <a:r>
              <a:rPr lang="en-US" sz="2400" dirty="0">
                <a:latin typeface="Arial Narrow" panose="020B0606020202030204" pitchFamily="34" charset="0"/>
              </a:rPr>
              <a:t> Users can add system details such as system name, IP address, operating system, and hardware specifications.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3.</a:t>
            </a:r>
            <a:r>
              <a:rPr lang="en-US" sz="2400" dirty="0">
                <a:latin typeface="Arial Narrow" panose="020B0606020202030204" pitchFamily="34" charset="0"/>
              </a:rPr>
              <a:t> Each registered system is linked to the user account for monitoring and management.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4.</a:t>
            </a:r>
            <a:r>
              <a:rPr lang="en-US" sz="2400" dirty="0">
                <a:latin typeface="Arial Narrow" panose="020B0606020202030204" pitchFamily="34" charset="0"/>
              </a:rPr>
              <a:t> The module maintains records of all registered systems and their monitoring status.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5.</a:t>
            </a:r>
            <a:r>
              <a:rPr lang="en-US" sz="2400" dirty="0">
                <a:latin typeface="Arial Narrow" panose="020B0606020202030204" pitchFamily="34" charset="0"/>
              </a:rPr>
              <a:t>It ensures that the monitoring agent is connected properly to collect and transmit system performance data for analysis.</a:t>
            </a:r>
          </a:p>
        </p:txBody>
      </p:sp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MODULE-3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A700B5-C2E5-16E8-79C0-F7D96F6066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6" t="9765" r="2667"/>
          <a:stretch>
            <a:fillRect/>
          </a:stretch>
        </p:blipFill>
        <p:spPr>
          <a:xfrm>
            <a:off x="7467600" y="566400"/>
            <a:ext cx="4643120" cy="58445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121570" y="731520"/>
            <a:ext cx="6228080" cy="5749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2600" b="1" dirty="0">
                <a:latin typeface="Arial Narrow" panose="020B0606020202030204" pitchFamily="34" charset="0"/>
              </a:rPr>
              <a:t>Model Development</a:t>
            </a:r>
          </a:p>
          <a:p>
            <a:pPr mar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sz="2600" b="1" dirty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1.</a:t>
            </a:r>
            <a:r>
              <a:rPr lang="en-US" sz="2400" dirty="0">
                <a:latin typeface="Arial Narrow" panose="020B0606020202030204" pitchFamily="34" charset="0"/>
              </a:rPr>
              <a:t> This module focuses on developing the machine learning model used to analyze system performance and detect abnormal patterns.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2.</a:t>
            </a:r>
            <a:r>
              <a:rPr lang="en-US" sz="2400" dirty="0">
                <a:latin typeface="Arial Narrow" panose="020B0606020202030204" pitchFamily="34" charset="0"/>
              </a:rPr>
              <a:t> The administrator uploads datasets containing system metrics such as CPU usage, memory usage, disk activity, network latency, and process information.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3.</a:t>
            </a:r>
            <a:r>
              <a:rPr lang="en-US" sz="2400" dirty="0">
                <a:latin typeface="Arial Narrow" panose="020B0606020202030204" pitchFamily="34" charset="0"/>
              </a:rPr>
              <a:t> Data preprocessing cleans and organizes the dataset by removing missing values and normalizing the data for accurate analysis.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4.</a:t>
            </a:r>
            <a:r>
              <a:rPr lang="en-US" sz="2400" dirty="0">
                <a:latin typeface="Arial Narrow" panose="020B0606020202030204" pitchFamily="34" charset="0"/>
              </a:rPr>
              <a:t> Feature extraction identifies important system metrics that influence performance and improves model efficiency.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5.</a:t>
            </a:r>
            <a:r>
              <a:rPr lang="en-US" sz="2400" dirty="0">
                <a:latin typeface="Arial Narrow" panose="020B0606020202030204" pitchFamily="34" charset="0"/>
              </a:rPr>
              <a:t>The model is trained using historical data and then deployed to analyze real-time monitoring data and detect performance degradation.</a:t>
            </a:r>
          </a:p>
          <a:p>
            <a:pPr marL="0" lvl="0" indent="0">
              <a:buSzPts val="2800"/>
              <a:buNone/>
            </a:pPr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MODULE-4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3E1769-B9DD-FAA7-2162-98D2FA78A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160" y="1656080"/>
            <a:ext cx="4846320" cy="41401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>
            <a:spLocks noGrp="1"/>
          </p:cNvSpPr>
          <p:nvPr>
            <p:ph type="body" idx="1"/>
          </p:nvPr>
        </p:nvSpPr>
        <p:spPr>
          <a:xfrm>
            <a:off x="304800" y="936541"/>
            <a:ext cx="6136640" cy="5806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2600" b="1" dirty="0">
                <a:latin typeface="Arial Narrow" panose="020B0606020202030204" pitchFamily="34" charset="0"/>
              </a:rPr>
              <a:t>Monitoring Agent</a:t>
            </a:r>
          </a:p>
          <a:p>
            <a:pPr mar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sz="2600" b="1" dirty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1.</a:t>
            </a:r>
            <a:r>
              <a:rPr lang="en-US" sz="2400" dirty="0">
                <a:latin typeface="Arial Narrow" panose="020B0606020202030204" pitchFamily="34" charset="0"/>
              </a:rPr>
              <a:t> This module collects system performance metrics from monitored computers or servers for continuous analysis.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2.</a:t>
            </a:r>
            <a:r>
              <a:rPr lang="en-US" sz="2400" dirty="0">
                <a:latin typeface="Arial Narrow" panose="020B0606020202030204" pitchFamily="34" charset="0"/>
              </a:rPr>
              <a:t> The monitoring agent runs in the background of each registered system and gathers important data such as CPU usage, memory utilization, disk activity, network latency, and process count.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3.</a:t>
            </a:r>
            <a:r>
              <a:rPr lang="en-US" sz="2400" dirty="0">
                <a:latin typeface="Arial Narrow" panose="020B0606020202030204" pitchFamily="34" charset="0"/>
              </a:rPr>
              <a:t> System metrics are collected at regular time intervals and transmitted to the central analysis server for further processing.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4.</a:t>
            </a:r>
            <a:r>
              <a:rPr lang="en-US" sz="2400" dirty="0">
                <a:latin typeface="Arial Narrow" panose="020B0606020202030204" pitchFamily="34" charset="0"/>
              </a:rPr>
              <a:t> The module ensures that accurate and real-time performance data is available for monitoring and analysis.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5.</a:t>
            </a:r>
            <a:r>
              <a:rPr lang="en-US" sz="2400" dirty="0">
                <a:latin typeface="Arial Narrow" panose="020B0606020202030204" pitchFamily="34" charset="0"/>
              </a:rPr>
              <a:t>By automating the data collection process, the monitoring agent supports machine learning analysis and helps in detecting anomalies or performance degradation.</a:t>
            </a:r>
          </a:p>
        </p:txBody>
      </p:sp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MODULE-5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8B21F0-0725-A46F-8E59-E860046BB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441" y="936541"/>
            <a:ext cx="5445760" cy="54308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7118-F388-2F22-2338-CD526CC4B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7" y="-25241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MODULE-6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13535-BAD7-5328-1856-3B4EAE77A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0873" y="1104081"/>
            <a:ext cx="10629746" cy="5648325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2600" b="1" dirty="0">
                <a:latin typeface="Arial Narrow" panose="020B0606020202030204" pitchFamily="34" charset="0"/>
              </a:rPr>
              <a:t>Anomaly Detection</a:t>
            </a:r>
          </a:p>
          <a:p>
            <a:pPr mar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sz="2600" b="1" dirty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1.</a:t>
            </a:r>
            <a:r>
              <a:rPr lang="en-US" sz="2400" dirty="0">
                <a:latin typeface="Arial Narrow" panose="020B0606020202030204" pitchFamily="34" charset="0"/>
              </a:rPr>
              <a:t> This module analyzes collected system performance metrics to identify unusual patterns that may indicate system performance degradation.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2.</a:t>
            </a:r>
            <a:r>
              <a:rPr lang="en-US" sz="2400" dirty="0">
                <a:latin typeface="Arial Narrow" panose="020B0606020202030204" pitchFamily="34" charset="0"/>
              </a:rPr>
              <a:t> Machine learning algorithms learn the normal behavior of system performance using historical data.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3.</a:t>
            </a:r>
            <a:r>
              <a:rPr lang="en-US" sz="2400" dirty="0">
                <a:latin typeface="Arial Narrow" panose="020B0606020202030204" pitchFamily="34" charset="0"/>
              </a:rPr>
              <a:t> New incoming metrics are compared with the learned patterns to determine whether the system behavior is normal or abnormal.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4.</a:t>
            </a:r>
            <a:r>
              <a:rPr lang="en-US" sz="2400" dirty="0">
                <a:latin typeface="Arial Narrow" panose="020B0606020202030204" pitchFamily="34" charset="0"/>
              </a:rPr>
              <a:t> If a significant deviation is detected, the system generates an anomaly score indicating the severity of the issue.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5.</a:t>
            </a:r>
            <a:r>
              <a:rPr lang="en-US" sz="2400" dirty="0">
                <a:latin typeface="Arial Narrow" panose="020B0606020202030204" pitchFamily="34" charset="0"/>
              </a:rPr>
              <a:t> Early anomaly detection helps administrators take preventive actions, improving system reliability and reducing unexpected downtime.</a:t>
            </a:r>
          </a:p>
          <a:p>
            <a:pPr marL="114300" indent="0">
              <a:buNone/>
            </a:pP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AEBF5-5ED2-3FEC-C800-30F9448CB3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05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BA1F9-AFDC-C105-9C36-78D363FF4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241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MODULE-7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2D4D0-BC36-8BBF-E60B-D51327D44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4071" y="1253330"/>
            <a:ext cx="6514742" cy="5370989"/>
          </a:xfrm>
        </p:spPr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en-US" sz="2600" b="1" dirty="0">
                <a:latin typeface="Arial Narrow" panose="020B0606020202030204" pitchFamily="34" charset="0"/>
              </a:rPr>
              <a:t>Recommendation Engine</a:t>
            </a:r>
          </a:p>
          <a:p>
            <a:pPr marL="114300" indent="0">
              <a:buNone/>
            </a:pPr>
            <a:endParaRPr lang="en-US" sz="2600" b="1" dirty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1.</a:t>
            </a:r>
            <a:r>
              <a:rPr lang="en-US" sz="2400" dirty="0">
                <a:latin typeface="Arial Narrow" panose="020B0606020202030204" pitchFamily="34" charset="0"/>
              </a:rPr>
              <a:t> This module provides corrective recommendations based on the results from anomaly detection and system analysis.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2.</a:t>
            </a:r>
            <a:r>
              <a:rPr lang="en-US" sz="2400" dirty="0">
                <a:latin typeface="Arial Narrow" panose="020B0606020202030204" pitchFamily="34" charset="0"/>
              </a:rPr>
              <a:t> It identifies the root cause of performance degradation and generates suitable actions to resolve the issue.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3.</a:t>
            </a:r>
            <a:r>
              <a:rPr lang="en-US" sz="2400" dirty="0">
                <a:latin typeface="Arial Narrow" panose="020B0606020202030204" pitchFamily="34" charset="0"/>
              </a:rPr>
              <a:t> Recommendations may include optimizing system resources, restarting services, or checking affected system components.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4.</a:t>
            </a:r>
            <a:r>
              <a:rPr lang="en-US" sz="2400" dirty="0">
                <a:latin typeface="Arial Narrow" panose="020B0606020202030204" pitchFamily="34" charset="0"/>
              </a:rPr>
              <a:t> The module helps administrators quickly understand and fix system performance problems.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5.</a:t>
            </a:r>
            <a:r>
              <a:rPr lang="en-US" sz="2400" dirty="0">
                <a:latin typeface="Arial Narrow" panose="020B0606020202030204" pitchFamily="34" charset="0"/>
              </a:rPr>
              <a:t> By providing clear guidance, it reduces troubleshooting time and improves overall system efficiency.</a:t>
            </a:r>
          </a:p>
          <a:p>
            <a:pPr marL="114300" indent="0">
              <a:buNone/>
            </a:pPr>
            <a:endParaRPr lang="en-IN" sz="26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40488-EDE2-3C6E-52BC-1D2C540603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D9D53F-6BB9-C38F-082C-F793119A8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253" y="2214720"/>
            <a:ext cx="4534533" cy="315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61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F2A89-A362-80FB-6930-3D6DCA7B0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155" y="-25241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MODULE-8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CD7C7-C57A-6670-7EB2-AF9DA0C76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904" y="924560"/>
            <a:ext cx="6130576" cy="572008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600" b="1" dirty="0">
                <a:latin typeface="Arial Narrow" panose="020B0606020202030204" pitchFamily="34" charset="0"/>
              </a:rPr>
              <a:t>Alerts and Notification</a:t>
            </a:r>
          </a:p>
          <a:p>
            <a:pPr marL="114300" indent="0">
              <a:buNone/>
            </a:pPr>
            <a:endParaRPr lang="en-US" sz="2600" b="1" dirty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1.</a:t>
            </a:r>
            <a:r>
              <a:rPr lang="en-US" sz="2400" dirty="0">
                <a:latin typeface="Arial Narrow" panose="020B0606020202030204" pitchFamily="34" charset="0"/>
              </a:rPr>
              <a:t> This module notifies users when abnormal system behavior or performance degradation is detected.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2.</a:t>
            </a:r>
            <a:r>
              <a:rPr lang="en-US" sz="2400" dirty="0">
                <a:latin typeface="Arial Narrow" panose="020B0606020202030204" pitchFamily="34" charset="0"/>
              </a:rPr>
              <a:t> When an anomaly is identified, the system generates alert messages for administrators.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3.</a:t>
            </a:r>
            <a:r>
              <a:rPr lang="en-US" sz="2400" dirty="0">
                <a:latin typeface="Arial Narrow" panose="020B0606020202030204" pitchFamily="34" charset="0"/>
              </a:rPr>
              <a:t> Alerts are displayed on the monitoring dashboard and can also be sent through email notifications.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4.</a:t>
            </a:r>
            <a:r>
              <a:rPr lang="en-US" sz="2400" dirty="0">
                <a:latin typeface="Arial Narrow" panose="020B0606020202030204" pitchFamily="34" charset="0"/>
              </a:rPr>
              <a:t> The module categorizes alerts based on severity so administrators can prioritize critical issues.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5.</a:t>
            </a:r>
            <a:r>
              <a:rPr lang="en-US" sz="2400" dirty="0">
                <a:latin typeface="Arial Narrow" panose="020B0606020202030204" pitchFamily="34" charset="0"/>
              </a:rPr>
              <a:t> Timely notifications help administrators take corrective actions quickly and prevent major system failures.</a:t>
            </a:r>
          </a:p>
          <a:p>
            <a:pPr marL="114300" indent="0">
              <a:buNone/>
            </a:pPr>
            <a:endParaRPr lang="en-IN" sz="2600" b="1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31D9F-A799-25CE-203B-129CFAE211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8FD5EF-7D2B-629D-E9F3-1E50E9CDFD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4" t="9608" r="1500"/>
          <a:stretch>
            <a:fillRect/>
          </a:stretch>
        </p:blipFill>
        <p:spPr>
          <a:xfrm>
            <a:off x="6634480" y="717550"/>
            <a:ext cx="5445760" cy="28689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2120BF-9E0B-A976-3A10-76A6099F7C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33" t="34092" r="45583" b="9295"/>
          <a:stretch>
            <a:fillRect/>
          </a:stretch>
        </p:blipFill>
        <p:spPr>
          <a:xfrm>
            <a:off x="6634480" y="3586480"/>
            <a:ext cx="5445760" cy="276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897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Presents a multivariate time-series framework for early detection of silent system performance degradation.</a:t>
            </a: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Integrates the </a:t>
            </a:r>
            <a:r>
              <a:rPr lang="en-US" dirty="0" err="1">
                <a:latin typeface="Arial Narrow"/>
                <a:ea typeface="Arial Narrow"/>
                <a:cs typeface="Arial Narrow"/>
                <a:sym typeface="Arial Narrow"/>
              </a:rPr>
              <a:t>OmniAnomaly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 model with SHAP-based explainability for accurate anomaly and root-cause detection.</a:t>
            </a: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Identifies gradual performance drift and provides actionable insights for administrators.</a:t>
            </a: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Enables proactive maintenance, reducing downtime and improving operational stability.</a:t>
            </a: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Delivers a reliable, interpretable, and automated solution for efficient system performance management.</a:t>
            </a:r>
          </a:p>
          <a:p>
            <a:pPr marL="0" lvl="0" indent="0"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19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158DC945-209D-3CC4-978D-F1775DC4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id="{41AD951B-2AFC-752E-2E78-41812B040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 dirty="0">
                <a:latin typeface="Arial Narrow"/>
              </a:rPr>
              <a:t>FUTURE ENHANCEMENTS </a:t>
            </a:r>
            <a:endParaRPr b="1" dirty="0">
              <a:latin typeface="Arial Narrow"/>
              <a:sym typeface="Arial Narrow"/>
            </a:endParaRPr>
          </a:p>
        </p:txBody>
      </p:sp>
      <p:sp>
        <p:nvSpPr>
          <p:cNvPr id="195" name="Google Shape;195;p16">
            <a:extLst>
              <a:ext uri="{FF2B5EF4-FFF2-40B4-BE49-F238E27FC236}">
                <a16:creationId xmlns:a16="http://schemas.microsoft.com/office/drawing/2014/main" id="{648B83C1-3DE7-3E3F-40F8-76D0B6241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9100" y="1681246"/>
            <a:ext cx="11436016" cy="4675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1.</a:t>
            </a:r>
            <a:r>
              <a:rPr lang="en-US" dirty="0">
                <a:latin typeface="Arial Narrow" panose="020B0606020202030204" pitchFamily="34" charset="0"/>
              </a:rPr>
              <a:t> The system can be extended to support cloud infrastructure monitoring by integrating with platforms such as AWS, Azure, and Google Cloud, allowing administrators to monitor both local and cloud-based systems from a single platform.</a:t>
            </a:r>
          </a:p>
          <a:p>
            <a:pPr marL="11430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2.</a:t>
            </a:r>
            <a:r>
              <a:rPr lang="en-US" dirty="0">
                <a:latin typeface="Arial Narrow" panose="020B0606020202030204" pitchFamily="34" charset="0"/>
              </a:rPr>
              <a:t>Real-time streaming analytics can be implemented to continuously process system metrics and detect anomalies instantly instead of analyzing data at fixed intervals.</a:t>
            </a:r>
          </a:p>
          <a:p>
            <a:pPr marL="11430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3.</a:t>
            </a:r>
            <a:r>
              <a:rPr lang="en-US" dirty="0">
                <a:latin typeface="Arial Narrow" panose="020B0606020202030204" pitchFamily="34" charset="0"/>
              </a:rPr>
              <a:t>The system can include automated self-healing mechanisms that automatically resolve certain performance issues such as restarting services, reallocating resources, or clearing system caches.</a:t>
            </a:r>
          </a:p>
          <a:p>
            <a:pPr marL="11430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4.</a:t>
            </a:r>
            <a:r>
              <a:rPr lang="en-US" dirty="0">
                <a:latin typeface="Arial Narrow" panose="020B0606020202030204" pitchFamily="34" charset="0"/>
              </a:rPr>
              <a:t>These enhancements will improve system reliability, reduce manual intervention, and enable faster detection and resolution of performance issues.</a:t>
            </a:r>
          </a:p>
        </p:txBody>
      </p:sp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5F65EE21-0D87-9A7B-FC62-462463E7E7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20</a:t>
            </a:fld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07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1765</Words>
  <Application>Microsoft Office PowerPoint</Application>
  <PresentationFormat>Widescreen</PresentationFormat>
  <Paragraphs>182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 Narrow</vt:lpstr>
      <vt:lpstr>Times New Roman</vt:lpstr>
      <vt:lpstr>Arial</vt:lpstr>
      <vt:lpstr>Calibri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IMPLEMENTATION OF MODULE-1</vt:lpstr>
      <vt:lpstr>IMPLEMENTATION OF MODULE-2</vt:lpstr>
      <vt:lpstr>IMPLEMENTATION OF MODULE-3</vt:lpstr>
      <vt:lpstr>IMPLEMENTATION OF MODULE-4</vt:lpstr>
      <vt:lpstr>IMPLEMENTATION OF MODULE-5</vt:lpstr>
      <vt:lpstr>IMPLEMENTATION OF MODULE-6</vt:lpstr>
      <vt:lpstr>IMPLEMENTATION OF MODULE-7</vt:lpstr>
      <vt:lpstr>IMPLEMENTATION OF MODULE-8</vt:lpstr>
      <vt:lpstr>CONCLUSION</vt:lpstr>
      <vt:lpstr>FUTURE ENHANCEMENTS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Saravanan M</dc:creator>
  <cp:lastModifiedBy>Swetha Sri</cp:lastModifiedBy>
  <cp:revision>11</cp:revision>
  <dcterms:modified xsi:type="dcterms:W3CDTF">2026-03-29T07:07:08Z</dcterms:modified>
</cp:coreProperties>
</file>